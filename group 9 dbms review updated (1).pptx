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91" r:id="rId4"/>
    <p:sldId id="259" r:id="rId5"/>
    <p:sldId id="274" r:id="rId6"/>
    <p:sldId id="279" r:id="rId7"/>
    <p:sldId id="285" r:id="rId8"/>
    <p:sldId id="286" r:id="rId9"/>
    <p:sldId id="290" r:id="rId10"/>
    <p:sldId id="283" r:id="rId11"/>
    <p:sldId id="288" r:id="rId12"/>
    <p:sldId id="289" r:id="rId13"/>
    <p:sldId id="268" r:id="rId14"/>
    <p:sldId id="269" r:id="rId1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85AAFA-1380-4188-B714-2E03FB86AA37}" v="3" dt="2026-09-29T16:39:28.0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0" autoAdjust="0"/>
    <p:restoredTop sz="94660"/>
  </p:normalViewPr>
  <p:slideViewPr>
    <p:cSldViewPr>
      <p:cViewPr varScale="1">
        <p:scale>
          <a:sx n="69" d="100"/>
          <a:sy n="69" d="100"/>
        </p:scale>
        <p:origin x="145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2.png"/><Relationship Id="rId7" Type="http://schemas.openxmlformats.org/officeDocument/2006/relationships/hyperlink" Target="https://www.pngall.com/hospital-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hyperlink" Target="https://bmjopen.bmj.com/content/8/9/e021246" TargetMode="External"/><Relationship Id="rId5" Type="http://schemas.openxmlformats.org/officeDocument/2006/relationships/image" Target="../media/image6.jpg"/><Relationship Id="rId10" Type="http://schemas.openxmlformats.org/officeDocument/2006/relationships/image" Target="../media/image11.jpeg"/><Relationship Id="rId4" Type="http://schemas.openxmlformats.org/officeDocument/2006/relationships/image" Target="../media/image8.png"/><Relationship Id="rId9" Type="http://schemas.openxmlformats.org/officeDocument/2006/relationships/hyperlink" Target="https://medium.com/texas-mccombs/will-you-see-the-doctor-now-6529499abd4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sz="2200" b="1">
                <a:solidFill>
                  <a:srgbClr val="1F4E79"/>
                </a:solidFill>
              </a:rPr>
              <a:t>Database Management Systems Cornerstone Project</a:t>
            </a:r>
            <a:br/>
            <a:r>
              <a:rPr sz="2200" b="1">
                <a:solidFill>
                  <a:srgbClr val="1F4E79"/>
                </a:solidFill>
              </a:rPr>
              <a:t>First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967288"/>
            <a:ext cx="8751412" cy="3071354"/>
          </a:xfrm>
          <a:prstGeom prst="rect">
            <a:avLst/>
          </a:prstGeom>
        </p:spPr>
        <p:txBody>
          <a:bodyPr vert="horz" wrap="square" lIns="0" tIns="16510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solidFill>
                  <a:srgbClr val="282828"/>
                </a:solidFill>
              </a:rPr>
              <a:t>HOSPITAL MANAGEMENT SYSTEM</a:t>
            </a:r>
            <a:br>
              <a:rPr dirty="0"/>
            </a:br>
            <a:br>
              <a:rPr dirty="0"/>
            </a:br>
            <a:r>
              <a:rPr sz="2000" b="1" dirty="0">
                <a:solidFill>
                  <a:srgbClr val="FF0000"/>
                </a:solidFill>
              </a:rPr>
              <a:t>Presented by</a:t>
            </a:r>
            <a:br>
              <a:rPr dirty="0"/>
            </a:br>
            <a:br>
              <a:rPr dirty="0"/>
            </a:br>
            <a:r>
              <a:rPr lang="en-IN" sz="2000" dirty="0">
                <a:solidFill>
                  <a:srgbClr val="282828"/>
                </a:solidFill>
              </a:rPr>
              <a:t>P. Nivil Sai Kumar Reddy</a:t>
            </a:r>
            <a:r>
              <a:rPr sz="2000" b="1" dirty="0">
                <a:solidFill>
                  <a:srgbClr val="282828"/>
                </a:solidFill>
              </a:rPr>
              <a:t> (25B11AI</a:t>
            </a:r>
            <a:r>
              <a:rPr lang="en-IN" sz="2000" dirty="0">
                <a:solidFill>
                  <a:srgbClr val="282828"/>
                </a:solidFill>
              </a:rPr>
              <a:t>896</a:t>
            </a:r>
            <a:r>
              <a:rPr sz="2000" b="1" dirty="0">
                <a:solidFill>
                  <a:srgbClr val="282828"/>
                </a:solidFill>
              </a:rPr>
              <a:t>)</a:t>
            </a:r>
            <a:br>
              <a:rPr dirty="0"/>
            </a:br>
            <a:r>
              <a:rPr sz="2000" b="1" dirty="0">
                <a:solidFill>
                  <a:srgbClr val="282828"/>
                </a:solidFill>
              </a:rPr>
              <a:t> </a:t>
            </a:r>
            <a:r>
              <a:rPr lang="en-IN" sz="2000" b="1" dirty="0">
                <a:solidFill>
                  <a:srgbClr val="282828"/>
                </a:solidFill>
              </a:rPr>
              <a:t>D. Lakshmi Manikanta</a:t>
            </a:r>
            <a:r>
              <a:rPr sz="2000" b="1" dirty="0">
                <a:solidFill>
                  <a:srgbClr val="282828"/>
                </a:solidFill>
              </a:rPr>
              <a:t>(25B11AI</a:t>
            </a:r>
            <a:r>
              <a:rPr lang="en-IN" sz="2000" b="1" dirty="0">
                <a:solidFill>
                  <a:srgbClr val="282828"/>
                </a:solidFill>
              </a:rPr>
              <a:t>276</a:t>
            </a:r>
            <a:r>
              <a:rPr sz="2000" b="1" dirty="0">
                <a:solidFill>
                  <a:srgbClr val="282828"/>
                </a:solidFill>
              </a:rPr>
              <a:t>)</a:t>
            </a:r>
            <a:br>
              <a:rPr dirty="0"/>
            </a:br>
            <a:r>
              <a:rPr lang="en-IN" dirty="0" err="1"/>
              <a:t>J.Y.R.S.S.D.Prasanna</a:t>
            </a:r>
            <a:r>
              <a:rPr lang="en-IN" dirty="0"/>
              <a:t> Kumar</a:t>
            </a:r>
            <a:r>
              <a:rPr sz="2000" b="1" dirty="0">
                <a:solidFill>
                  <a:srgbClr val="282828"/>
                </a:solidFill>
              </a:rPr>
              <a:t>(25B11AI</a:t>
            </a:r>
            <a:r>
              <a:rPr lang="en-IN" sz="2000" b="1" dirty="0">
                <a:solidFill>
                  <a:srgbClr val="282828"/>
                </a:solidFill>
              </a:rPr>
              <a:t>436</a:t>
            </a:r>
            <a:r>
              <a:rPr sz="2000" b="1" dirty="0">
                <a:solidFill>
                  <a:srgbClr val="282828"/>
                </a:solidFill>
              </a:rPr>
              <a:t>)</a:t>
            </a:r>
            <a:br>
              <a:rPr dirty="0"/>
            </a:br>
            <a:r>
              <a:rPr sz="2000" b="1" dirty="0">
                <a:solidFill>
                  <a:srgbClr val="282828"/>
                </a:solidFill>
              </a:rPr>
              <a:t> </a:t>
            </a:r>
            <a:r>
              <a:rPr lang="en-IN" sz="2000" dirty="0">
                <a:solidFill>
                  <a:srgbClr val="282828"/>
                </a:solidFill>
              </a:rPr>
              <a:t>K. </a:t>
            </a:r>
            <a:r>
              <a:rPr lang="en-IN" sz="2000" dirty="0" err="1">
                <a:solidFill>
                  <a:srgbClr val="282828"/>
                </a:solidFill>
              </a:rPr>
              <a:t>Dronam</a:t>
            </a:r>
            <a:r>
              <a:rPr lang="en-IN" sz="2000" dirty="0">
                <a:solidFill>
                  <a:srgbClr val="282828"/>
                </a:solidFill>
              </a:rPr>
              <a:t> Raju</a:t>
            </a:r>
            <a:r>
              <a:rPr sz="2000" b="1" dirty="0">
                <a:solidFill>
                  <a:srgbClr val="282828"/>
                </a:solidFill>
              </a:rPr>
              <a:t>(25B11AI</a:t>
            </a:r>
            <a:r>
              <a:rPr lang="en-IN" sz="2000" b="1" dirty="0">
                <a:solidFill>
                  <a:srgbClr val="282828"/>
                </a:solidFill>
              </a:rPr>
              <a:t>555</a:t>
            </a:r>
            <a:r>
              <a:rPr sz="2000" b="1" dirty="0">
                <a:solidFill>
                  <a:srgbClr val="282828"/>
                </a:solidFill>
              </a:rPr>
              <a:t>)</a:t>
            </a:r>
            <a:br>
              <a:rPr dirty="0"/>
            </a:br>
            <a:br>
              <a:rPr dirty="0"/>
            </a:br>
            <a:r>
              <a:rPr sz="2000" b="1" dirty="0">
                <a:solidFill>
                  <a:schemeClr val="accent2"/>
                </a:solidFill>
              </a:rPr>
              <a:t>Department of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33432" y="1394171"/>
            <a:ext cx="5523580" cy="4207562"/>
          </a:xfrm>
          <a:prstGeom prst="rect">
            <a:avLst/>
          </a:prstGeom>
        </p:spPr>
        <p:txBody>
          <a:bodyPr vert="horz" wrap="square" lIns="0" tIns="16510" rIns="0" bIns="0" rtlCol="0" anchor="ctr">
            <a:spAutoFit/>
          </a:bodyPr>
          <a:lstStyle/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Abstract</a:t>
            </a:r>
            <a:endParaRPr lang="en-IN" sz="2400" dirty="0"/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 err="1">
                <a:solidFill>
                  <a:srgbClr val="2D2D2D"/>
                </a:solidFill>
              </a:rPr>
              <a:t>Introductio</a:t>
            </a:r>
            <a:r>
              <a:rPr lang="en-IN" sz="2400" b="0" dirty="0">
                <a:solidFill>
                  <a:srgbClr val="2D2D2D"/>
                </a:solidFill>
              </a:rPr>
              <a:t>n</a:t>
            </a:r>
            <a:endParaRPr lang="en-IN" sz="2400" dirty="0"/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Problem Statement</a:t>
            </a:r>
            <a:endParaRPr lang="en-IN" sz="2400" dirty="0"/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Objectives</a:t>
            </a:r>
            <a:endParaRPr lang="en-IN" sz="2400" dirty="0"/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Identification of Entities</a:t>
            </a:r>
            <a:endParaRPr lang="en-IN" sz="2400" dirty="0"/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Entity Attributes</a:t>
            </a:r>
            <a:endParaRPr lang="en-IN" sz="2400" dirty="0"/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ER Diagram</a:t>
            </a:r>
            <a:endParaRPr lang="en-IN" sz="2400" dirty="0"/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Relationships</a:t>
            </a:r>
            <a:r>
              <a:rPr lang="en-IN" sz="2400" b="0" dirty="0">
                <a:solidFill>
                  <a:srgbClr val="2D2D2D"/>
                </a:solidFill>
              </a:rPr>
              <a:t> &amp; </a:t>
            </a:r>
            <a:r>
              <a:rPr sz="2400" b="0" dirty="0">
                <a:solidFill>
                  <a:srgbClr val="2D2D2D"/>
                </a:solidFill>
              </a:rPr>
              <a:t>Cardinality</a:t>
            </a:r>
            <a:endParaRPr lang="en-IN" sz="2400" dirty="0"/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Relational Database Schema</a:t>
            </a:r>
            <a:endParaRPr lang="en-IN" sz="2400" b="0" dirty="0">
              <a:solidFill>
                <a:srgbClr val="2D2D2D"/>
              </a:solidFill>
            </a:endParaRPr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Database Design Summary</a:t>
            </a:r>
            <a:endParaRPr lang="en-IN" sz="2400" dirty="0"/>
          </a:p>
          <a:p>
            <a:pPr marL="389890" indent="-377190" algn="l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sz="2400" b="0" dirty="0">
                <a:solidFill>
                  <a:srgbClr val="2D2D2D"/>
                </a:solidFill>
              </a:rPr>
              <a:t>Conclusion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C6C15-CA6B-652E-4897-ED97E454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7320958C-5680-2A70-1971-E9E0438092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>
            <a:extLst>
              <a:ext uri="{FF2B5EF4-FFF2-40B4-BE49-F238E27FC236}">
                <a16:creationId xmlns:a16="http://schemas.microsoft.com/office/drawing/2014/main" id="{C65BC43B-AE81-CBAC-083C-2CCB1D9FDBE5}"/>
              </a:ext>
            </a:extLst>
          </p:cNvPr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5009A494-CE63-AE71-A93D-A722FC545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1AEA5FFC-2D72-EC5B-22BC-41EA443F477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FB910A79-4EDC-6AF8-DE83-5733EE23987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8D5CECB-9A2D-2538-CCF9-6F106AD8B0B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DF2103AC-BA7C-BA06-0C73-A26FD830B883}"/>
              </a:ext>
            </a:extLst>
          </p:cNvPr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1C7DF5-0EDE-BCCF-605F-4BA22C2F1F6C}"/>
              </a:ext>
            </a:extLst>
          </p:cNvPr>
          <p:cNvSpPr txBox="1"/>
          <p:nvPr/>
        </p:nvSpPr>
        <p:spPr>
          <a:xfrm rot="10800000" flipV="1">
            <a:off x="938956" y="1322350"/>
            <a:ext cx="81686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 </a:t>
            </a:r>
            <a:r>
              <a:rPr lang="en-IN" sz="2800" b="1" dirty="0"/>
              <a:t>Hospital Management System</a:t>
            </a:r>
            <a:r>
              <a:rPr lang="en-IN" sz="2800" dirty="0"/>
              <a:t> is a SQL-based database designed to manage hospital data such as </a:t>
            </a:r>
            <a:r>
              <a:rPr lang="en-IN" sz="2800" b="1" dirty="0"/>
              <a:t>patients, doctors, appointments, prescriptions, medications, admissions, rooms, and billing</a:t>
            </a:r>
            <a:r>
              <a:rPr lang="en-IN" sz="2800" dirty="0"/>
              <a:t>. It uses </a:t>
            </a:r>
            <a:r>
              <a:rPr lang="en-IN" sz="2800" b="1" dirty="0"/>
              <a:t>ER </a:t>
            </a:r>
            <a:r>
              <a:rPr lang="en-IN" sz="2800" b="1" dirty="0" err="1"/>
              <a:t>modeling</a:t>
            </a:r>
            <a:r>
              <a:rPr lang="en-IN" sz="2800" b="1" dirty="0"/>
              <a:t>, normalization, constraints, and SQL queries</a:t>
            </a:r>
            <a:r>
              <a:rPr lang="en-IN" sz="2800" dirty="0"/>
              <a:t> to maintain accurate and organized data. The system reduces redundancy, improves data integrity, and enables efficient retrieval of hospital information.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0870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462873" y="3451044"/>
            <a:ext cx="7620000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/>
              <a:t>A Hospital Management System is a relational database designed to organize patient, doctor, appointment, prescription, medication, room, admission and billing information. The project is implemented purely with SQL concepts: database design, DDL, DML, constraints, joins, views and queries.</a:t>
            </a:r>
            <a:br>
              <a:rPr sz="2000" dirty="0"/>
            </a:br>
            <a:br>
              <a:rPr sz="2000" dirty="0"/>
            </a:br>
            <a:r>
              <a:rPr sz="2000" b="0" dirty="0"/>
              <a:t>A centralized database reduces duplicate records, improves data consistency and makes hospital information easier to retrieve for authorized users.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D61C2-3BD8-D86E-8D6F-53BFAC86C9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24357" y="1510039"/>
            <a:ext cx="1714286" cy="17142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AE616B-F245-FE27-FA06-2839F4B018C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530720" y="1216578"/>
            <a:ext cx="2590382" cy="22484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EBC0C13-2FE7-93E1-C503-3BCAF68D5FC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3150408" y="1371600"/>
            <a:ext cx="2252702" cy="215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581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BCEE7E-7B1B-FB4D-A06C-BD52F3ADC11E}"/>
              </a:ext>
            </a:extLst>
          </p:cNvPr>
          <p:cNvSpPr txBox="1"/>
          <p:nvPr/>
        </p:nvSpPr>
        <p:spPr>
          <a:xfrm>
            <a:off x="990600" y="1143000"/>
            <a:ext cx="7848600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dirty="0"/>
              <a:t>Hospitals handle large amounts of interconnected data. Manual or scattered records can cause duplicate patient entries, appointment conflicts, missing medical details and billing errors.</a:t>
            </a:r>
            <a:br>
              <a:rPr sz="2400" dirty="0"/>
            </a:br>
            <a:br>
              <a:rPr sz="2400" dirty="0"/>
            </a:br>
            <a:r>
              <a:rPr sz="2400" b="0" dirty="0"/>
              <a:t>The proposed SQL-based system addresses these issues through normalized relational tables, primary/foreign keys, integrity constraints and structured queries. It focuses on reliable data storage and retrieval rather than a frontend application.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429C0E-D3D9-C6CC-7313-83F33EFBCF1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BD439C4-23EF-6A01-9AB2-2146A0053017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7595B975-6E6C-09F1-450B-340824A32F4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B2F754A0-6362-4448-73A5-7DCC7E846F2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355D5708-ECB2-817E-3E2A-B2AC28611BC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5BA1C50B-38EB-B783-F61C-10D726E3C15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0A0F919-1976-DDB8-B12B-97BF71F7D4E0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3475A-751D-FD8D-BCE7-3BBD13FF888E}"/>
              </a:ext>
            </a:extLst>
          </p:cNvPr>
          <p:cNvSpPr txBox="1"/>
          <p:nvPr/>
        </p:nvSpPr>
        <p:spPr>
          <a:xfrm>
            <a:off x="2514600" y="3704102"/>
            <a:ext cx="50292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OBJECTIVES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528807"/>
              </p:ext>
            </p:extLst>
          </p:nvPr>
        </p:nvGraphicFramePr>
        <p:xfrm>
          <a:off x="1219200" y="1206336"/>
          <a:ext cx="7848601" cy="588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2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0044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</a:rPr>
                        <a:t>No.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Objective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SQL/DBMS Focus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044"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Store patient and hospital information systematically.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Aptos"/>
                        </a:rPr>
                        <a:t>Relational tables + DDL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044"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Manage doctors, departments and appointments.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Aptos"/>
                        </a:rPr>
                        <a:t>PK/FK + JOINs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044"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Maintain prescriptions and medication details.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Aptos"/>
                        </a:rPr>
                        <a:t>Normalization + constraints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044"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Track admissions, rooms and billing records.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Referential integrity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0044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Support accurate reporting and retrieval.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latin typeface="Aptos"/>
                        </a:rPr>
                        <a:t>SELECT, aggregates, views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722007" y="327571"/>
            <a:ext cx="50292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</a:rPr>
              <a:t>IDENTIFICATION OF ENTITIES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entities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brief description of each</a:t>
            </a:r>
          </a:p>
        </p:txBody>
      </p:sp>
      <p:graphicFrame>
        <p:nvGraphicFramePr>
          <p:cNvPr id="18" name="Table 17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619585711"/>
              </p:ext>
            </p:extLst>
          </p:nvPr>
        </p:nvGraphicFramePr>
        <p:xfrm>
          <a:off x="594360" y="1876552"/>
          <a:ext cx="9006840" cy="500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Entity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Patient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Stores patient identity and contact information.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Doctor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Stores doctor details and specialization.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Department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Represents hospital departments.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Appointment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Records patient-doctor appointment schedules.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Prescription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Stores medicines prescribed during consultation.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Medication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Maintains medicine master data.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Admission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Tracks inpatient admission and discharge.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Room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Stores room number, type and availability.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Billing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Records charges and payment status.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46E3745-F9B1-3B7A-8638-50510A1EE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876552"/>
            <a:ext cx="9429142" cy="513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5101-EFB3-3A4E-1783-95AEF459B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38B7BD8-F279-6FBF-CC7B-CEFBFE26CBDC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63ADE5B8-B1B8-D888-E483-BB4C23F6F2A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BDDEA78F-0707-E747-659F-FE22A85381EA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9F63A30-4FA9-2DBC-7146-88A2D668B10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C556E54F-7A30-8C78-4774-5ED8CC507DA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910567B1-D662-3B89-C5CE-ABFD3828B7D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E3D5A9C9-7ED6-194A-2563-31C8AEAD2D6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A0A2DB6-973C-7096-2C76-7E2A98FE4CA7}"/>
              </a:ext>
            </a:extLst>
          </p:cNvPr>
          <p:cNvSpPr txBox="1"/>
          <p:nvPr/>
        </p:nvSpPr>
        <p:spPr>
          <a:xfrm>
            <a:off x="2675334" y="325415"/>
            <a:ext cx="50292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</a:rPr>
              <a:t>ENTITY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54D9B-AD1D-C9AF-82CB-AF2E521ED58A}"/>
              </a:ext>
            </a:extLst>
          </p:cNvPr>
          <p:cNvSpPr txBox="1"/>
          <p:nvPr/>
        </p:nvSpPr>
        <p:spPr>
          <a:xfrm>
            <a:off x="2743200" y="3850798"/>
            <a:ext cx="647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Entity-wise attributes; identify important attributes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386348"/>
              </p:ext>
            </p:extLst>
          </p:nvPr>
        </p:nvGraphicFramePr>
        <p:xfrm>
          <a:off x="762000" y="1519635"/>
          <a:ext cx="8656320" cy="4946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Entity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Primary Key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Important Attributes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Foreign Key(s)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Patient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patient_id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name, DOB, gender, phone, address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Doctor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doctor_id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name, specialization, phone, email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department_id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Department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/>
                        </a:rPr>
                        <a:t>department_id</a:t>
                      </a:r>
                      <a:endParaRPr sz="14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department_name, location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Appointment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/>
                        </a:rPr>
                        <a:t>appointment_id</a:t>
                      </a:r>
                      <a:endParaRPr sz="14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appointment_date, status, reason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patient_id, doctor_id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Prescription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/>
                        </a:rPr>
                        <a:t>prescription_id</a:t>
                      </a:r>
                      <a:endParaRPr sz="14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prescription_date, dosage, instructions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appointment_id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Medication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/>
                        </a:rPr>
                        <a:t>medication_id</a:t>
                      </a:r>
                      <a:endParaRPr sz="14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medicine_name, unit_price, stock_qty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Admission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/>
                        </a:rPr>
                        <a:t>admission_id</a:t>
                      </a:r>
                      <a:endParaRPr sz="14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admit_date, discharge_date, diagnosis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patient_id, room_id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Room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/>
                        </a:rPr>
                        <a:t>room_id</a:t>
                      </a:r>
                      <a:endParaRPr sz="14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/>
                        </a:rPr>
                        <a:t>room_number</a:t>
                      </a:r>
                      <a:r>
                        <a:rPr sz="1400" dirty="0">
                          <a:latin typeface="Aptos"/>
                        </a:rPr>
                        <a:t>, </a:t>
                      </a:r>
                      <a:r>
                        <a:rPr sz="1400" dirty="0" err="1">
                          <a:latin typeface="Aptos"/>
                        </a:rPr>
                        <a:t>room_type</a:t>
                      </a:r>
                      <a:r>
                        <a:rPr sz="1400" dirty="0">
                          <a:latin typeface="Aptos"/>
                        </a:rPr>
                        <a:t>, availability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Billing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bill_id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amount, </a:t>
                      </a:r>
                      <a:r>
                        <a:rPr sz="1400" dirty="0" err="1">
                          <a:latin typeface="Aptos"/>
                        </a:rPr>
                        <a:t>bill_date</a:t>
                      </a:r>
                      <a:r>
                        <a:rPr sz="1400" dirty="0">
                          <a:latin typeface="Aptos"/>
                        </a:rPr>
                        <a:t>, </a:t>
                      </a:r>
                      <a:r>
                        <a:rPr sz="1400" dirty="0" err="1">
                          <a:latin typeface="Aptos"/>
                        </a:rPr>
                        <a:t>payment_status</a:t>
                      </a:r>
                      <a:endParaRPr sz="14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/>
                        </a:rPr>
                        <a:t>patient_id</a:t>
                      </a:r>
                      <a:r>
                        <a:rPr sz="1400" dirty="0">
                          <a:latin typeface="Aptos"/>
                        </a:rPr>
                        <a:t>, </a:t>
                      </a:r>
                      <a:r>
                        <a:rPr sz="1400" dirty="0" err="1">
                          <a:latin typeface="Aptos"/>
                        </a:rPr>
                        <a:t>appointment_id</a:t>
                      </a:r>
                      <a:endParaRPr sz="14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DA4761AB-A3DE-3D14-AB87-ABE0599E2B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017" y="1385894"/>
            <a:ext cx="9280365" cy="533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88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E47E6-88BF-6B67-904C-A01C293F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0AEE4EB-C34C-13F7-02DD-00D322829324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7EBD2BEB-FE55-49BB-2CF8-4302269D3F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CABF2668-4655-E536-AF51-2B385188EDF3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DC0EC687-20B7-3DF8-9EEB-8E16646B49F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FB860354-2279-3F37-6FB7-093BF789321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D1A8BFF7-2A46-C2D3-E4A8-81BC792CEE4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1828DE52-2C8E-CB40-34DB-F136776E614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1C8633E-A436-7EF8-1E07-3FDA51096462}"/>
              </a:ext>
            </a:extLst>
          </p:cNvPr>
          <p:cNvSpPr txBox="1"/>
          <p:nvPr/>
        </p:nvSpPr>
        <p:spPr>
          <a:xfrm>
            <a:off x="2675334" y="325415"/>
            <a:ext cx="50292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</a:rPr>
              <a:t>E</a:t>
            </a:r>
            <a:r>
              <a:rPr lang="en-IN" sz="2000" b="1" dirty="0">
                <a:solidFill>
                  <a:schemeClr val="bg1"/>
                </a:solidFill>
              </a:rPr>
              <a:t>R diagrammatic representation</a:t>
            </a:r>
            <a:endParaRPr sz="20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47E57E-22D2-4688-D235-B31436900D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03929"/>
            <a:ext cx="9220200" cy="614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163891-64F0-A761-7BEA-105D1261CB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127501"/>
            <a:ext cx="9220200" cy="627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87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3CB9-7506-BAAA-E9C3-CE48CEF5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0E20F5E-7FD6-11D9-2FDA-EE108A84A23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9AE2BCFF-ABDE-41D4-B8BF-1AB1B673A9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BE34BD8F-F357-59E0-02A2-96C2E1240843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3E2539D7-2120-C082-7B1F-DD6675E267D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F37C0A0C-18AD-01AD-7565-6FC9372D69C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4E0872C-09B7-D944-75E5-04A1FBF850B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11F7C7A4-D941-4131-458E-67ECF20CAFE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D319AA9-FD71-AE0F-D90A-AC09E14E48D5}"/>
              </a:ext>
            </a:extLst>
          </p:cNvPr>
          <p:cNvSpPr txBox="1"/>
          <p:nvPr/>
        </p:nvSpPr>
        <p:spPr>
          <a:xfrm>
            <a:off x="2705100" y="317477"/>
            <a:ext cx="50292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</a:rPr>
              <a:t>RELATIONSHIPS &amp; CARDINALITY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801978"/>
              </p:ext>
            </p:extLst>
          </p:nvPr>
        </p:nvGraphicFramePr>
        <p:xfrm>
          <a:off x="304800" y="1417320"/>
          <a:ext cx="8884920" cy="5881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2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853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</a:rPr>
                        <a:t>Relationship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</a:rPr>
                        <a:t>Cardinality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853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Department → Doctor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1 : M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One department can have many doctors; each doctor belongs to one department.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853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Patient → Appointment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1 : 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One patient can have many appointments.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853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Doctor → Appointment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1 : M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One doctor can handle many appointments.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853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Appointment → Prescription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1 : 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An appointment may generate prescription records.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853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Prescription ↔ Medication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M : 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A prescription can contain many medicines and a medicine can appear in many prescriptions.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853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Patient → Admission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1 : 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A patient may have multiple admissions over time.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6853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Room → Admission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1 : M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/>
                        </a:rPr>
                        <a:t>A room can be assigned across different admissions over time.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6853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Appointment → Billing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1 : 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/>
                        </a:rPr>
                        <a:t>Each completed appointment has one associated bill in this design.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9F42398-C723-3B92-2FC5-E3EF4688A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76" y="1328513"/>
            <a:ext cx="9851048" cy="575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94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625771" y="313629"/>
            <a:ext cx="50292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</a:rPr>
              <a:t>RELATIONAL DATABASE SCHEMA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95DB9-015F-1A5A-C9C5-048003F057DB}"/>
              </a:ext>
            </a:extLst>
          </p:cNvPr>
          <p:cNvSpPr txBox="1"/>
          <p:nvPr/>
        </p:nvSpPr>
        <p:spPr>
          <a:xfrm>
            <a:off x="2171700" y="2209800"/>
            <a:ext cx="6477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47317"/>
              </p:ext>
            </p:extLst>
          </p:nvPr>
        </p:nvGraphicFramePr>
        <p:xfrm>
          <a:off x="274320" y="1280160"/>
          <a:ext cx="9144000" cy="494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Columns (★ PK / → FK)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PATIENT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★ patient_id, name, dob, gender, phone, address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Patient master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DEPARTMENT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★ department_id, department_name, location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Department master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DOCTOR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★ doctor_id, name, specialization, phone, email, →department_id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Doctor master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APPOINTMENT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★ appointment_id, appointment_date, status, reason, →patient_id, →doctor_id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Scheduling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PRESCRIPTION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★ prescription_id, prescription_date, dosage, instructions, →appointment_id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Prescription header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MEDICATION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★ </a:t>
                      </a:r>
                      <a:r>
                        <a:rPr sz="1200" dirty="0" err="1">
                          <a:latin typeface="Aptos"/>
                        </a:rPr>
                        <a:t>medication_id</a:t>
                      </a:r>
                      <a:r>
                        <a:rPr sz="1200" dirty="0">
                          <a:latin typeface="Aptos"/>
                        </a:rPr>
                        <a:t>, </a:t>
                      </a:r>
                      <a:r>
                        <a:rPr sz="1200" dirty="0" err="1">
                          <a:latin typeface="Aptos"/>
                        </a:rPr>
                        <a:t>medicine_name</a:t>
                      </a:r>
                      <a:r>
                        <a:rPr sz="1200" dirty="0">
                          <a:latin typeface="Aptos"/>
                        </a:rPr>
                        <a:t>, </a:t>
                      </a:r>
                      <a:r>
                        <a:rPr sz="1200" dirty="0" err="1">
                          <a:latin typeface="Aptos"/>
                        </a:rPr>
                        <a:t>unit_price</a:t>
                      </a:r>
                      <a:r>
                        <a:rPr sz="1200" dirty="0">
                          <a:latin typeface="Aptos"/>
                        </a:rPr>
                        <a:t>, </a:t>
                      </a:r>
                      <a:r>
                        <a:rPr sz="1200" dirty="0" err="1">
                          <a:latin typeface="Aptos"/>
                        </a:rPr>
                        <a:t>stock_qty</a:t>
                      </a:r>
                      <a:endParaRPr sz="12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Medicine master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PRESCRIPTION_MEDICINE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★→</a:t>
                      </a:r>
                      <a:r>
                        <a:rPr sz="1200" dirty="0" err="1">
                          <a:latin typeface="Aptos"/>
                        </a:rPr>
                        <a:t>prescription_id</a:t>
                      </a:r>
                      <a:r>
                        <a:rPr sz="1200" dirty="0">
                          <a:latin typeface="Aptos"/>
                        </a:rPr>
                        <a:t> + ★→</a:t>
                      </a:r>
                      <a:r>
                        <a:rPr sz="1200" dirty="0" err="1">
                          <a:latin typeface="Aptos"/>
                        </a:rPr>
                        <a:t>medication_id</a:t>
                      </a:r>
                      <a:r>
                        <a:rPr sz="1200" dirty="0">
                          <a:latin typeface="Aptos"/>
                        </a:rPr>
                        <a:t>, quantity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Resolves M:N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ROOM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★ </a:t>
                      </a:r>
                      <a:r>
                        <a:rPr sz="1200" dirty="0" err="1">
                          <a:latin typeface="Aptos"/>
                        </a:rPr>
                        <a:t>room_id</a:t>
                      </a:r>
                      <a:r>
                        <a:rPr sz="1200" dirty="0">
                          <a:latin typeface="Aptos"/>
                        </a:rPr>
                        <a:t>, </a:t>
                      </a:r>
                      <a:r>
                        <a:rPr sz="1200" dirty="0" err="1">
                          <a:latin typeface="Aptos"/>
                        </a:rPr>
                        <a:t>room_number</a:t>
                      </a:r>
                      <a:r>
                        <a:rPr sz="1200" dirty="0">
                          <a:latin typeface="Aptos"/>
                        </a:rPr>
                        <a:t>, </a:t>
                      </a:r>
                      <a:r>
                        <a:rPr sz="1200" dirty="0" err="1">
                          <a:latin typeface="Aptos"/>
                        </a:rPr>
                        <a:t>room_type</a:t>
                      </a:r>
                      <a:r>
                        <a:rPr sz="1200" dirty="0">
                          <a:latin typeface="Aptos"/>
                        </a:rPr>
                        <a:t>, availability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Room master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ADMISSION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★ </a:t>
                      </a:r>
                      <a:r>
                        <a:rPr sz="1200" dirty="0" err="1">
                          <a:latin typeface="Aptos"/>
                        </a:rPr>
                        <a:t>admission_id</a:t>
                      </a:r>
                      <a:r>
                        <a:rPr sz="1200" dirty="0">
                          <a:latin typeface="Aptos"/>
                        </a:rPr>
                        <a:t>, </a:t>
                      </a:r>
                      <a:r>
                        <a:rPr sz="1200" dirty="0" err="1">
                          <a:latin typeface="Aptos"/>
                        </a:rPr>
                        <a:t>admit_date</a:t>
                      </a:r>
                      <a:r>
                        <a:rPr sz="1200" dirty="0">
                          <a:latin typeface="Aptos"/>
                        </a:rPr>
                        <a:t>, </a:t>
                      </a:r>
                      <a:r>
                        <a:rPr sz="1200" dirty="0" err="1">
                          <a:latin typeface="Aptos"/>
                        </a:rPr>
                        <a:t>discharge_date</a:t>
                      </a:r>
                      <a:r>
                        <a:rPr sz="1200" dirty="0">
                          <a:latin typeface="Aptos"/>
                        </a:rPr>
                        <a:t>, diagnosis, →</a:t>
                      </a:r>
                      <a:r>
                        <a:rPr sz="1200" dirty="0" err="1">
                          <a:latin typeface="Aptos"/>
                        </a:rPr>
                        <a:t>patient_id</a:t>
                      </a:r>
                      <a:r>
                        <a:rPr sz="1200" dirty="0">
                          <a:latin typeface="Aptos"/>
                        </a:rPr>
                        <a:t>, →</a:t>
                      </a:r>
                      <a:r>
                        <a:rPr sz="1200" dirty="0" err="1">
                          <a:latin typeface="Aptos"/>
                        </a:rPr>
                        <a:t>room_id</a:t>
                      </a:r>
                      <a:endParaRPr sz="12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Inpatient tracking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4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BILLING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★ </a:t>
                      </a:r>
                      <a:r>
                        <a:rPr sz="1200" dirty="0" err="1">
                          <a:latin typeface="Aptos"/>
                        </a:rPr>
                        <a:t>bill_id</a:t>
                      </a:r>
                      <a:r>
                        <a:rPr sz="1200" dirty="0">
                          <a:latin typeface="Aptos"/>
                        </a:rPr>
                        <a:t>, </a:t>
                      </a:r>
                      <a:r>
                        <a:rPr sz="1200" dirty="0" err="1">
                          <a:latin typeface="Aptos"/>
                        </a:rPr>
                        <a:t>bill_date</a:t>
                      </a:r>
                      <a:r>
                        <a:rPr sz="1200" dirty="0">
                          <a:latin typeface="Aptos"/>
                        </a:rPr>
                        <a:t>, amount, </a:t>
                      </a:r>
                      <a:r>
                        <a:rPr sz="1200" dirty="0" err="1">
                          <a:latin typeface="Aptos"/>
                        </a:rPr>
                        <a:t>payment_status</a:t>
                      </a:r>
                      <a:r>
                        <a:rPr sz="1200" dirty="0">
                          <a:latin typeface="Aptos"/>
                        </a:rPr>
                        <a:t>, →</a:t>
                      </a:r>
                      <a:r>
                        <a:rPr sz="1200" dirty="0" err="1">
                          <a:latin typeface="Aptos"/>
                        </a:rPr>
                        <a:t>patient_id</a:t>
                      </a:r>
                      <a:r>
                        <a:rPr sz="1200" dirty="0">
                          <a:latin typeface="Aptos"/>
                        </a:rPr>
                        <a:t>, →</a:t>
                      </a:r>
                      <a:r>
                        <a:rPr sz="1200" dirty="0" err="1">
                          <a:latin typeface="Aptos"/>
                        </a:rPr>
                        <a:t>appointment_id</a:t>
                      </a:r>
                      <a:endParaRPr sz="1200" dirty="0"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Billing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50CFD96-2E9F-A7DE-E100-4003E6C430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940" y="1058832"/>
            <a:ext cx="9732520" cy="540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9D9BD-A49B-E7AD-4520-BC86C25F6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C6A0F28-9E90-771F-2F24-F93E4ACFB54C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FC588F7B-3579-2B0D-69D2-72B4E6DFFE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F22AD4B5-6DC8-613B-C81A-54F77D9A6623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F2FBC2E8-4559-F2C5-199B-6FBD13D8870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BD350D34-5698-4018-250D-DFFC9C5066C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7AD92A1A-806E-B814-AE81-98A2879847B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4BD7D69-6551-295C-01AC-4BA69F5576E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72645EE-25FC-2E20-4C9B-772EEC7F195E}"/>
              </a:ext>
            </a:extLst>
          </p:cNvPr>
          <p:cNvSpPr txBox="1"/>
          <p:nvPr/>
        </p:nvSpPr>
        <p:spPr>
          <a:xfrm>
            <a:off x="2734084" y="328976"/>
            <a:ext cx="50292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</a:rPr>
              <a:t>DATABASE DESIGN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1F1945-D196-83FD-641A-95CF7EF336B0}"/>
              </a:ext>
            </a:extLst>
          </p:cNvPr>
          <p:cNvSpPr txBox="1"/>
          <p:nvPr/>
        </p:nvSpPr>
        <p:spPr>
          <a:xfrm>
            <a:off x="2514600" y="2057401"/>
            <a:ext cx="61722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261453"/>
              </p:ext>
            </p:extLst>
          </p:nvPr>
        </p:nvGraphicFramePr>
        <p:xfrm>
          <a:off x="533400" y="1371600"/>
          <a:ext cx="84734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</a:rPr>
                        <a:t>Design Item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</a:rPr>
                        <a:t>Summary</a:t>
                      </a:r>
                    </a:p>
                  </a:txBody>
                  <a:tcPr marL="36576" marR="36576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Entities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10 core entities/tables including the associative table for M:N.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Relationships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8 major relationships captured in the ER model.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Tables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10 relational tables after ER-to-relational conversion.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Primary Keys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10 PK definitions; composite PK in Prescription_Medicine.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Foreign Keys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FKs enforce patient, doctor, department, appointment, room and medication links.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Normalization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Designed toward 3NF: atomic attributes, minimal redundancy and key-based dependencies.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ptos"/>
                        </a:rPr>
                        <a:t>SQL Scope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DDL, DML, constraints, SELECT/JOIN/GROUP BY, views and reporting queries.</a:t>
                      </a:r>
                    </a:p>
                  </a:txBody>
                  <a:tcPr marL="36576" marR="36576" marT="18288" marB="18288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Review-II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ptos"/>
                        </a:rPr>
                        <a:t>Implement SQL scripts, sample data, queries, constraints, views and validation/testing.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86E90F0-968F-9124-0F6E-FF1C08134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71600"/>
            <a:ext cx="8473440" cy="545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7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85800"/>
            <a:ext cx="886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E3750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8229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D2D2D"/>
                </a:solidFill>
              </a:rPr>
              <a:t>The Hospital Management System establishes a clear SQL-based database structure for managing interconnected hospital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4664"/>
                </a:solidFill>
              </a:rPr>
              <a:t>Structured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78892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</a:rPr>
              <a:t>Patient, doctor, department, appointment, prescription, medicine, admission, room and billing records are organized into related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79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4664"/>
                </a:solidFill>
              </a:rPr>
              <a:t>Clear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611879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</a:rPr>
              <a:t>The enhanced ER model shows how hospital records connect and how the M:N prescription–medicine relationship is resolved.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4664"/>
                </a:solidFill>
              </a:rPr>
              <a:t>Reliable database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43484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</a:rPr>
              <a:t>The design supports consistency, reduces duplicate data and enables accurate retrieval and reporting through SQL.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4664"/>
                </a:solidFill>
              </a:rPr>
              <a:t>Next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25780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</a:rPr>
              <a:t>Review-II will implement the tables, constraints, sample records, joins, aggregate queries, views and validation tests.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898F9E-E072-4B1E-E792-5C6F84719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60" y="516600"/>
            <a:ext cx="1158340" cy="42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F4E79"/>
                </a:solidFill>
              </a:rPr>
              <a:t>THANK YOU</a:t>
            </a:r>
            <a:br/>
            <a:br/>
            <a:r>
              <a:rPr sz="2200" b="1">
                <a:solidFill>
                  <a:srgbClr val="1F4E79"/>
                </a:solidFill>
              </a:rPr>
              <a:t>Hospital Management System</a:t>
            </a:r>
            <a:br/>
            <a:r>
              <a:rPr sz="2200" b="1">
                <a:solidFill>
                  <a:srgbClr val="1F4E79"/>
                </a:solidFill>
              </a:rPr>
              <a:t>SQL-Based Database Management System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2647</TotalTime>
  <Words>1218</Words>
  <Application>Microsoft Office PowerPoint</Application>
  <PresentationFormat>Custom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Calibri</vt:lpstr>
      <vt:lpstr>Cambria</vt:lpstr>
      <vt:lpstr>Palatino Linotype</vt:lpstr>
      <vt:lpstr>Times New Roman</vt:lpstr>
      <vt:lpstr>Office Theme</vt:lpstr>
      <vt:lpstr>Database Management Systems Cornerstone Project First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Hospital Management System SQL-Based Database Management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Eesanth Gudla</cp:lastModifiedBy>
  <cp:revision>54</cp:revision>
  <cp:lastPrinted>2025-10-14T18:21:49Z</cp:lastPrinted>
  <dcterms:created xsi:type="dcterms:W3CDTF">2025-10-10T08:28:06Z</dcterms:created>
  <dcterms:modified xsi:type="dcterms:W3CDTF">2026-09-30T04:29:09Z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